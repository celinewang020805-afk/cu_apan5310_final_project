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2"/>
  </p:notesMasterIdLst>
  <p:sldIdLst>
    <p:sldId id="256" r:id="rId2"/>
    <p:sldId id="257" r:id="rId3"/>
    <p:sldId id="326" r:id="rId4"/>
    <p:sldId id="259" r:id="rId5"/>
    <p:sldId id="337" r:id="rId6"/>
    <p:sldId id="338" r:id="rId7"/>
    <p:sldId id="260" r:id="rId8"/>
    <p:sldId id="329" r:id="rId9"/>
    <p:sldId id="330" r:id="rId10"/>
    <p:sldId id="332" r:id="rId11"/>
  </p:sldIdLst>
  <p:sldSz cx="9144000" cy="5143500" type="screen16x9"/>
  <p:notesSz cx="6858000" cy="9144000"/>
  <p:embeddedFontLst>
    <p:embeddedFont>
      <p:font typeface="Hind Madurai" panose="02000000000000000000" pitchFamily="2" charset="0"/>
      <p:regular r:id="rId13"/>
      <p:bold r:id="rId14"/>
    </p:embeddedFont>
    <p:embeddedFont>
      <p:font typeface="Lexend Deca" pitchFamily="2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D0D0D0"/>
    <a:srgbClr val="242424"/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C03E16-5DFD-4B31-84A7-B90FC0A8E57A}">
  <a:tblStyle styleId="{BBC03E16-5DFD-4B31-84A7-B90FC0A8E5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11"/>
    <p:restoredTop sz="94651"/>
  </p:normalViewPr>
  <p:slideViewPr>
    <p:cSldViewPr snapToGrid="0">
      <p:cViewPr>
        <p:scale>
          <a:sx n="120" d="100"/>
          <a:sy n="120" d="100"/>
        </p:scale>
        <p:origin x="89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23f572be1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  <p:sp>
        <p:nvSpPr>
          <p:cNvPr id="176" name="Google Shape;176;g123f572be1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9101D-0BE6-E9A6-2739-A6D122CE0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3AD2F-27EB-B5EE-B0FE-7C1AF69FB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4D10D-44FA-F5AF-B8A3-25ACAD88D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F27B6-9AF5-7098-F969-E840F89BC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82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C19CD-0FBF-E551-489A-A68FD2C8D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4DC181-B094-6FD6-B1B6-86EF71A99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279F6-4EF3-BE21-5893-42DC4E0CC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77A53-FEC9-3C48-08FB-00E5229810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784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419225" y="1222475"/>
            <a:ext cx="4922100" cy="2122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419225" y="3463873"/>
            <a:ext cx="4922100" cy="457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/>
          <p:nvPr/>
        </p:nvSpPr>
        <p:spPr>
          <a:xfrm>
            <a:off x="0" y="-150"/>
            <a:ext cx="54777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2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/>
          <p:nvPr/>
        </p:nvSpPr>
        <p:spPr>
          <a:xfrm>
            <a:off x="0" y="3655625"/>
            <a:ext cx="9144000" cy="148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425196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3" name="Text 1"/>
          <p:cNvSpPr/>
          <p:nvPr/>
        </p:nvSpPr>
        <p:spPr>
          <a:xfrm>
            <a:off x="308610" y="109728"/>
            <a:ext cx="315468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5" b="1" kern="0" spc="9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ABC FOODMART  |  APAN 5310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5829300" y="109728"/>
            <a:ext cx="298323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DATABASE &amp; DASHBOARD SYSTEM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308610" y="4924044"/>
            <a:ext cx="8503920" cy="0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4951476"/>
            <a:ext cx="205740" cy="12344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697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875" y="374258"/>
            <a:ext cx="7716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xend Deca"/>
              <a:buNone/>
              <a:defRPr sz="25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xend Deca"/>
              <a:buNone/>
              <a:defRPr sz="25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xend Deca"/>
              <a:buNone/>
              <a:defRPr sz="25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xend Deca"/>
              <a:buNone/>
              <a:defRPr sz="25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xend Deca"/>
              <a:buNone/>
              <a:defRPr sz="25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xend Deca"/>
              <a:buNone/>
              <a:defRPr sz="25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xend Deca"/>
              <a:buNone/>
              <a:defRPr sz="25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xend Deca"/>
              <a:buNone/>
              <a:defRPr sz="25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Lexend Deca"/>
              <a:buNone/>
              <a:defRPr sz="25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875" y="1152475"/>
            <a:ext cx="7716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●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○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■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●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○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■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●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○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 Madurai"/>
              <a:buChar char="■"/>
              <a:defRPr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2" r:id="rId3"/>
    <p:sldLayoutId id="2147483673" r:id="rId4"/>
    <p:sldLayoutId id="2147483674" r:id="rId5"/>
    <p:sldLayoutId id="214748367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82.157.4.243:3000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2"/>
          <p:cNvPicPr preferRelativeResize="0"/>
          <p:nvPr/>
        </p:nvPicPr>
        <p:blipFill rotWithShape="1">
          <a:blip r:embed="rId3">
            <a:alphaModFix/>
          </a:blip>
          <a:srcRect l="9702" r="16412"/>
          <a:stretch>
            <a:fillRect/>
          </a:stretch>
        </p:blipFill>
        <p:spPr>
          <a:xfrm>
            <a:off x="272550" y="245550"/>
            <a:ext cx="5156276" cy="46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2"/>
          <p:cNvSpPr/>
          <p:nvPr/>
        </p:nvSpPr>
        <p:spPr>
          <a:xfrm>
            <a:off x="2940100" y="869425"/>
            <a:ext cx="6204000" cy="3404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Text 10">
            <a:extLst>
              <a:ext uri="{FF2B5EF4-FFF2-40B4-BE49-F238E27FC236}">
                <a16:creationId xmlns:a16="http://schemas.microsoft.com/office/drawing/2014/main" id="{335B51BA-7603-9A99-ED89-0D28E5F5D296}"/>
              </a:ext>
            </a:extLst>
          </p:cNvPr>
          <p:cNvSpPr/>
          <p:nvPr/>
        </p:nvSpPr>
        <p:spPr>
          <a:xfrm>
            <a:off x="3202170" y="1433184"/>
            <a:ext cx="5669280" cy="7325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ABC</a:t>
            </a:r>
            <a:r>
              <a:rPr lang="zh-CN" altLang="en-US" sz="3600">
                <a:ea typeface="Aptos" pitchFamily="34" charset="-122"/>
              </a:rPr>
              <a:t> </a:t>
            </a: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FOODMART</a:t>
            </a:r>
            <a:endParaRPr lang="en-US" sz="3600" dirty="0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850EF4DA-D8A9-7268-6956-237F0089FAFB}"/>
              </a:ext>
            </a:extLst>
          </p:cNvPr>
          <p:cNvSpPr/>
          <p:nvPr/>
        </p:nvSpPr>
        <p:spPr>
          <a:xfrm>
            <a:off x="3229602" y="204008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5E5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Database &amp; Dashboard System</a:t>
            </a:r>
            <a:endParaRPr lang="en-US" sz="1700" dirty="0"/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225A139B-5E9A-575E-88AB-8CDC530E0BD0}"/>
              </a:ext>
            </a:extLst>
          </p:cNvPr>
          <p:cNvSpPr/>
          <p:nvPr/>
        </p:nvSpPr>
        <p:spPr>
          <a:xfrm>
            <a:off x="3229602" y="261615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APAN 5310 · SQL &amp; Relational Databases · Final Presentation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B7B7B7"/>
                </a:solidFill>
                <a:latin typeface="Aptos" pitchFamily="34" charset="0"/>
              </a:rPr>
              <a:t>Group</a:t>
            </a:r>
            <a:r>
              <a:rPr lang="zh-CN" altLang="en-US" sz="1050">
                <a:solidFill>
                  <a:srgbClr val="B7B7B7"/>
                </a:solidFill>
                <a:latin typeface="Aptos" pitchFamily="34" charset="0"/>
              </a:rPr>
              <a:t> </a:t>
            </a:r>
            <a:r>
              <a:rPr lang="en-US" altLang="zh-CN" sz="1050" dirty="0">
                <a:solidFill>
                  <a:srgbClr val="B7B7B7"/>
                </a:solidFill>
                <a:latin typeface="Aptos" pitchFamily="34" charset="0"/>
              </a:rPr>
              <a:t>4:</a:t>
            </a:r>
            <a:r>
              <a:rPr lang="zh-CN" altLang="en-US" sz="1050">
                <a:solidFill>
                  <a:srgbClr val="B7B7B7"/>
                </a:solidFill>
                <a:latin typeface="Aptos" pitchFamily="34" charset="0"/>
              </a:rPr>
              <a:t> </a:t>
            </a:r>
            <a:r>
              <a:rPr lang="en-US" altLang="zh-CN" sz="1050" dirty="0">
                <a:solidFill>
                  <a:srgbClr val="B7B7B7"/>
                </a:solidFill>
                <a:latin typeface="Aptos" pitchFamily="34" charset="0"/>
              </a:rPr>
              <a:t>Xiangzhou</a:t>
            </a:r>
            <a:r>
              <a:rPr lang="zh-CN" altLang="en-US" sz="1050">
                <a:solidFill>
                  <a:srgbClr val="B7B7B7"/>
                </a:solidFill>
                <a:latin typeface="Aptos" pitchFamily="34" charset="0"/>
              </a:rPr>
              <a:t> </a:t>
            </a:r>
            <a:r>
              <a:rPr lang="en-US" altLang="zh-CN" sz="1050" dirty="0">
                <a:solidFill>
                  <a:srgbClr val="B7B7B7"/>
                </a:solidFill>
                <a:latin typeface="Aptos" pitchFamily="34" charset="0"/>
              </a:rPr>
              <a:t>Tan,</a:t>
            </a:r>
            <a:r>
              <a:rPr lang="zh-CN" altLang="en-US" sz="1050">
                <a:solidFill>
                  <a:srgbClr val="B7B7B7"/>
                </a:solidFill>
                <a:latin typeface="Aptos" pitchFamily="34" charset="0"/>
              </a:rPr>
              <a:t> </a:t>
            </a:r>
            <a:r>
              <a:rPr lang="en-US" altLang="zh-CN" sz="1050" dirty="0">
                <a:solidFill>
                  <a:srgbClr val="B7B7B7"/>
                </a:solidFill>
                <a:latin typeface="Aptos" pitchFamily="34" charset="0"/>
              </a:rPr>
              <a:t>Xilin</a:t>
            </a:r>
            <a:r>
              <a:rPr lang="zh-CN" altLang="en-US" sz="1050">
                <a:solidFill>
                  <a:srgbClr val="B7B7B7"/>
                </a:solidFill>
                <a:latin typeface="Aptos" pitchFamily="34" charset="0"/>
              </a:rPr>
              <a:t> </a:t>
            </a:r>
            <a:r>
              <a:rPr lang="en-US" altLang="zh-CN" sz="1050" dirty="0">
                <a:solidFill>
                  <a:srgbClr val="B7B7B7"/>
                </a:solidFill>
                <a:latin typeface="Aptos" pitchFamily="34" charset="0"/>
              </a:rPr>
              <a:t>Wang,</a:t>
            </a:r>
            <a:r>
              <a:rPr lang="zh-CN" altLang="en-US" sz="1050">
                <a:solidFill>
                  <a:srgbClr val="B7B7B7"/>
                </a:solidFill>
                <a:latin typeface="Aptos" pitchFamily="34" charset="0"/>
              </a:rPr>
              <a:t> </a:t>
            </a:r>
            <a:r>
              <a:rPr lang="en-US" altLang="zh-CN" sz="1050" dirty="0">
                <a:solidFill>
                  <a:srgbClr val="B7B7B7"/>
                </a:solidFill>
                <a:latin typeface="Aptos" pitchFamily="34" charset="0"/>
              </a:rPr>
              <a:t>Guyi</a:t>
            </a:r>
            <a:r>
              <a:rPr lang="zh-CN" altLang="en-US" sz="1050">
                <a:solidFill>
                  <a:srgbClr val="B7B7B7"/>
                </a:solidFill>
                <a:latin typeface="Aptos" pitchFamily="34" charset="0"/>
              </a:rPr>
              <a:t> </a:t>
            </a:r>
            <a:r>
              <a:rPr lang="en-US" altLang="zh-CN" sz="1050" dirty="0">
                <a:solidFill>
                  <a:srgbClr val="B7B7B7"/>
                </a:solidFill>
                <a:latin typeface="Aptos" pitchFamily="34" charset="0"/>
              </a:rPr>
              <a:t>Jia,</a:t>
            </a:r>
            <a:r>
              <a:rPr lang="zh-CN" altLang="en-US" sz="1050">
                <a:solidFill>
                  <a:srgbClr val="B7B7B7"/>
                </a:solidFill>
                <a:latin typeface="Aptos" pitchFamily="34" charset="0"/>
              </a:rPr>
              <a:t> </a:t>
            </a:r>
            <a:r>
              <a:rPr lang="en-US" altLang="zh-CN" sz="1050" dirty="0">
                <a:solidFill>
                  <a:srgbClr val="B7B7B7"/>
                </a:solidFill>
                <a:latin typeface="Aptos" pitchFamily="34" charset="0"/>
              </a:rPr>
              <a:t>Cloris</a:t>
            </a:r>
            <a:r>
              <a:rPr lang="zh-CN" altLang="en-US" sz="1050">
                <a:solidFill>
                  <a:srgbClr val="B7B7B7"/>
                </a:solidFill>
                <a:latin typeface="Aptos" pitchFamily="34" charset="0"/>
              </a:rPr>
              <a:t> </a:t>
            </a:r>
            <a:r>
              <a:rPr lang="en-US" altLang="zh-CN" sz="1050" dirty="0">
                <a:solidFill>
                  <a:srgbClr val="B7B7B7"/>
                </a:solidFill>
                <a:latin typeface="Aptos" pitchFamily="34" charset="0"/>
              </a:rPr>
              <a:t>He</a:t>
            </a:r>
            <a:endParaRPr lang="en-US" sz="1050" dirty="0"/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B6B66111-2633-1D41-5128-840D969997A9}"/>
              </a:ext>
            </a:extLst>
          </p:cNvPr>
          <p:cNvSpPr/>
          <p:nvPr/>
        </p:nvSpPr>
        <p:spPr>
          <a:xfrm>
            <a:off x="3229602" y="3109934"/>
            <a:ext cx="4389120" cy="0"/>
          </a:xfrm>
          <a:prstGeom prst="line">
            <a:avLst/>
          </a:prstGeom>
          <a:noFill/>
          <a:ln w="12700">
            <a:solidFill>
              <a:srgbClr val="B7B7B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15">
            <a:extLst>
              <a:ext uri="{FF2B5EF4-FFF2-40B4-BE49-F238E27FC236}">
                <a16:creationId xmlns:a16="http://schemas.microsoft.com/office/drawing/2014/main" id="{9F03A0DD-C8FB-B708-400B-B8D092EC1C1A}"/>
              </a:ext>
            </a:extLst>
          </p:cNvPr>
          <p:cNvSpPr/>
          <p:nvPr/>
        </p:nvSpPr>
        <p:spPr>
          <a:xfrm>
            <a:off x="3229602" y="3380074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00D44BD9-9768-8807-DB7B-BD55F021DFAA}"/>
              </a:ext>
            </a:extLst>
          </p:cNvPr>
          <p:cNvSpPr/>
          <p:nvPr/>
        </p:nvSpPr>
        <p:spPr>
          <a:xfrm>
            <a:off x="3302754" y="3416650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11" name="Shape 17">
            <a:extLst>
              <a:ext uri="{FF2B5EF4-FFF2-40B4-BE49-F238E27FC236}">
                <a16:creationId xmlns:a16="http://schemas.microsoft.com/office/drawing/2014/main" id="{3F4B3A6B-B220-36FB-045C-4A526534224B}"/>
              </a:ext>
            </a:extLst>
          </p:cNvPr>
          <p:cNvSpPr/>
          <p:nvPr/>
        </p:nvSpPr>
        <p:spPr>
          <a:xfrm>
            <a:off x="4601202" y="3380074"/>
            <a:ext cx="1325880" cy="274320"/>
          </a:xfrm>
          <a:prstGeom prst="roundRect">
            <a:avLst>
              <a:gd name="adj" fmla="val 40000"/>
            </a:avLst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03DE6CE7-44AE-65F2-6A53-450C74BD6842}"/>
              </a:ext>
            </a:extLst>
          </p:cNvPr>
          <p:cNvSpPr/>
          <p:nvPr/>
        </p:nvSpPr>
        <p:spPr>
          <a:xfrm>
            <a:off x="4674354" y="3416650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ETL</a:t>
            </a:r>
            <a:endParaRPr lang="en-US" sz="800" dirty="0"/>
          </a:p>
        </p:txBody>
      </p:sp>
      <p:sp>
        <p:nvSpPr>
          <p:cNvPr id="13" name="Shape 19">
            <a:extLst>
              <a:ext uri="{FF2B5EF4-FFF2-40B4-BE49-F238E27FC236}">
                <a16:creationId xmlns:a16="http://schemas.microsoft.com/office/drawing/2014/main" id="{6F55F6D1-A012-C17F-F707-C867250ECF9B}"/>
              </a:ext>
            </a:extLst>
          </p:cNvPr>
          <p:cNvSpPr/>
          <p:nvPr/>
        </p:nvSpPr>
        <p:spPr>
          <a:xfrm>
            <a:off x="6064242" y="3380074"/>
            <a:ext cx="1143000" cy="274320"/>
          </a:xfrm>
          <a:prstGeom prst="roundRect">
            <a:avLst>
              <a:gd name="adj" fmla="val 40000"/>
            </a:avLst>
          </a:prstGeom>
          <a:solidFill>
            <a:srgbClr val="B7B7B7"/>
          </a:solidFill>
          <a:ln w="12700">
            <a:solidFill>
              <a:srgbClr val="B7B7B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20">
            <a:extLst>
              <a:ext uri="{FF2B5EF4-FFF2-40B4-BE49-F238E27FC236}">
                <a16:creationId xmlns:a16="http://schemas.microsoft.com/office/drawing/2014/main" id="{BA38D3A2-0C1B-3AC4-B805-6593D2B7E972}"/>
              </a:ext>
            </a:extLst>
          </p:cNvPr>
          <p:cNvSpPr/>
          <p:nvPr/>
        </p:nvSpPr>
        <p:spPr>
          <a:xfrm>
            <a:off x="6137394" y="3416650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Metabase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589788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Client Scenario: Why ABC </a:t>
            </a:r>
            <a:r>
              <a:rPr lang="en-US" sz="1875" b="1" dirty="0" err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Foodmart</a:t>
            </a:r>
            <a:r>
              <a:rPr lang="en-US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Needs a New System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377190" y="953262"/>
            <a:ext cx="81610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Consulting problem definition — business growth has outpaced the spreadsheet-and-binder workflow.</a:t>
            </a:r>
            <a:endParaRPr lang="en-US" sz="788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4F2E76B-2015-21BB-6147-EC49F32584F3}"/>
              </a:ext>
            </a:extLst>
          </p:cNvPr>
          <p:cNvGrpSpPr/>
          <p:nvPr/>
        </p:nvGrpSpPr>
        <p:grpSpPr>
          <a:xfrm>
            <a:off x="681229" y="1312735"/>
            <a:ext cx="2366010" cy="2414016"/>
            <a:chOff x="411480" y="1371600"/>
            <a:chExt cx="2366010" cy="2414016"/>
          </a:xfrm>
        </p:grpSpPr>
        <p:sp>
          <p:nvSpPr>
            <p:cNvPr id="4" name="Shape 2"/>
            <p:cNvSpPr/>
            <p:nvPr/>
          </p:nvSpPr>
          <p:spPr>
            <a:xfrm>
              <a:off x="411480" y="1371600"/>
              <a:ext cx="2366010" cy="2414016"/>
            </a:xfrm>
            <a:prstGeom prst="roundRect">
              <a:avLst>
                <a:gd name="adj" fmla="val 1739"/>
              </a:avLst>
            </a:prstGeom>
            <a:solidFill>
              <a:srgbClr val="FFFFFF"/>
            </a:solidFill>
            <a:ln w="12700">
              <a:solidFill>
                <a:srgbClr val="D5D5D5"/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5" name="Shape 3"/>
            <p:cNvSpPr/>
            <p:nvPr/>
          </p:nvSpPr>
          <p:spPr>
            <a:xfrm>
              <a:off x="582930" y="1591056"/>
              <a:ext cx="48006" cy="246888"/>
            </a:xfrm>
            <a:prstGeom prst="rect">
              <a:avLst/>
            </a:prstGeom>
            <a:solidFill>
              <a:schemeClr val="bg1">
                <a:lumMod val="25000"/>
              </a:schemeClr>
            </a:solidFill>
            <a:ln w="12700">
              <a:solidFill>
                <a:schemeClr val="bg1">
                  <a:lumMod val="25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6" name="Text 4"/>
            <p:cNvSpPr/>
            <p:nvPr/>
          </p:nvSpPr>
          <p:spPr>
            <a:xfrm>
              <a:off x="715518" y="1591056"/>
              <a:ext cx="1858518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200" b="1">
                  <a:solidFill>
                    <a:srgbClr val="2424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SITUATION</a:t>
              </a:r>
              <a:endParaRPr lang="en-US" sz="1200"/>
            </a:p>
          </p:txBody>
        </p:sp>
        <p:sp>
          <p:nvSpPr>
            <p:cNvPr id="7" name="Text 5"/>
            <p:cNvSpPr/>
            <p:nvPr/>
          </p:nvSpPr>
          <p:spPr>
            <a:xfrm>
              <a:off x="582930" y="2002536"/>
              <a:ext cx="2023110" cy="1337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r>
                <a:rPr lang="en-US" sz="1100" kern="200">
                  <a:solidFill>
                    <a:schemeClr val="dk1"/>
                  </a:solidFill>
                  <a:latin typeface="Hind Madurai"/>
                  <a:cs typeface="Hind Madurai"/>
                  <a:sym typeface="Hind Madurai"/>
                </a:rPr>
                <a:t>ABC Foodmart is expanding from two Queens locations to three new Brooklyn stores. Staffing, inventory, purchasing, sales, and accounting data must now scale across five locations.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251C77F-9DFD-D702-9043-A946ED3799E9}"/>
              </a:ext>
            </a:extLst>
          </p:cNvPr>
          <p:cNvGrpSpPr/>
          <p:nvPr/>
        </p:nvGrpSpPr>
        <p:grpSpPr>
          <a:xfrm>
            <a:off x="3388996" y="1310449"/>
            <a:ext cx="2366010" cy="2414016"/>
            <a:chOff x="3003804" y="1371600"/>
            <a:chExt cx="2366010" cy="2414016"/>
          </a:xfrm>
        </p:grpSpPr>
        <p:sp>
          <p:nvSpPr>
            <p:cNvPr id="8" name="Shape 6"/>
            <p:cNvSpPr/>
            <p:nvPr/>
          </p:nvSpPr>
          <p:spPr>
            <a:xfrm>
              <a:off x="3003804" y="1371600"/>
              <a:ext cx="2366010" cy="2414016"/>
            </a:xfrm>
            <a:prstGeom prst="roundRect">
              <a:avLst>
                <a:gd name="adj" fmla="val 1739"/>
              </a:avLst>
            </a:prstGeom>
            <a:solidFill>
              <a:srgbClr val="FFFFFF"/>
            </a:solidFill>
            <a:ln w="12700">
              <a:solidFill>
                <a:srgbClr val="D5D5D5"/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9" name="Shape 7"/>
            <p:cNvSpPr/>
            <p:nvPr/>
          </p:nvSpPr>
          <p:spPr>
            <a:xfrm>
              <a:off x="3175254" y="1591056"/>
              <a:ext cx="48006" cy="246888"/>
            </a:xfrm>
            <a:prstGeom prst="rect">
              <a:avLst/>
            </a:prstGeom>
            <a:solidFill>
              <a:schemeClr val="bg1">
                <a:lumMod val="25000"/>
              </a:schemeClr>
            </a:solidFill>
            <a:ln w="12700">
              <a:solidFill>
                <a:schemeClr val="bg1">
                  <a:lumMod val="25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10" name="Text 8"/>
            <p:cNvSpPr/>
            <p:nvPr/>
          </p:nvSpPr>
          <p:spPr>
            <a:xfrm>
              <a:off x="3307842" y="1591056"/>
              <a:ext cx="1858518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200" b="1">
                  <a:solidFill>
                    <a:srgbClr val="2424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COMPLICATION</a:t>
              </a:r>
              <a:endParaRPr lang="en-US" sz="1200"/>
            </a:p>
          </p:txBody>
        </p:sp>
        <p:sp>
          <p:nvSpPr>
            <p:cNvPr id="11" name="Text 9"/>
            <p:cNvSpPr/>
            <p:nvPr/>
          </p:nvSpPr>
          <p:spPr>
            <a:xfrm>
              <a:off x="3175254" y="2002536"/>
              <a:ext cx="2023110" cy="1337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r>
                <a:rPr lang="en-US" sz="1050" kern="200">
                  <a:solidFill>
                    <a:schemeClr val="dk1"/>
                  </a:solidFill>
                  <a:latin typeface="Hind Madurai"/>
                  <a:cs typeface="Hind Madurai"/>
                </a:rPr>
                <a:t>Operational information is fragmented across spreadsheets and paper records. Decisions are slow, cross-store comparisons are difficult, and inconsistent updates increase the risk of errors.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3E4B048-2D01-6943-B2ED-276162C5F73C}"/>
              </a:ext>
            </a:extLst>
          </p:cNvPr>
          <p:cNvGrpSpPr/>
          <p:nvPr/>
        </p:nvGrpSpPr>
        <p:grpSpPr>
          <a:xfrm>
            <a:off x="6096762" y="1310449"/>
            <a:ext cx="2366010" cy="2414016"/>
            <a:chOff x="5596128" y="1371600"/>
            <a:chExt cx="2366010" cy="2414016"/>
          </a:xfrm>
        </p:grpSpPr>
        <p:sp>
          <p:nvSpPr>
            <p:cNvPr id="12" name="Shape 10"/>
            <p:cNvSpPr/>
            <p:nvPr/>
          </p:nvSpPr>
          <p:spPr>
            <a:xfrm>
              <a:off x="5596128" y="1371600"/>
              <a:ext cx="2366010" cy="2414016"/>
            </a:xfrm>
            <a:prstGeom prst="roundRect">
              <a:avLst>
                <a:gd name="adj" fmla="val 1739"/>
              </a:avLst>
            </a:prstGeom>
            <a:solidFill>
              <a:srgbClr val="FFFFFF"/>
            </a:solidFill>
            <a:ln w="12700">
              <a:solidFill>
                <a:srgbClr val="D5D5D5"/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13" name="Shape 11"/>
            <p:cNvSpPr/>
            <p:nvPr/>
          </p:nvSpPr>
          <p:spPr>
            <a:xfrm>
              <a:off x="5767578" y="1591056"/>
              <a:ext cx="48006" cy="246888"/>
            </a:xfrm>
            <a:prstGeom prst="rect">
              <a:avLst/>
            </a:prstGeom>
            <a:solidFill>
              <a:schemeClr val="bg1">
                <a:lumMod val="25000"/>
              </a:schemeClr>
            </a:solidFill>
            <a:ln w="12700">
              <a:solidFill>
                <a:schemeClr val="bg1">
                  <a:lumMod val="25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14" name="Text 12"/>
            <p:cNvSpPr/>
            <p:nvPr/>
          </p:nvSpPr>
          <p:spPr>
            <a:xfrm>
              <a:off x="5900166" y="1591056"/>
              <a:ext cx="1858518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200" b="1">
                  <a:solidFill>
                    <a:srgbClr val="2424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OUR RESPONSE</a:t>
              </a:r>
              <a:endParaRPr lang="en-US" sz="1200"/>
            </a:p>
          </p:txBody>
        </p:sp>
        <p:sp>
          <p:nvSpPr>
            <p:cNvPr id="15" name="Text 13"/>
            <p:cNvSpPr/>
            <p:nvPr/>
          </p:nvSpPr>
          <p:spPr>
            <a:xfrm>
              <a:off x="5767578" y="2002536"/>
              <a:ext cx="2023110" cy="13373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r>
                <a:rPr lang="en-US" sz="1050" kern="200">
                  <a:solidFill>
                    <a:schemeClr val="dk1"/>
                  </a:solidFill>
                  <a:latin typeface="Hind Madurai"/>
                  <a:cs typeface="Hind Madurai"/>
                </a:rPr>
                <a:t>Build one normalized PostgreSQL database, automate data preparation with Python, and expose role-appropriate insights through SQL and Metabase dashboards.</a:t>
              </a:r>
            </a:p>
          </p:txBody>
        </p:sp>
      </p:grpSp>
      <p:sp>
        <p:nvSpPr>
          <p:cNvPr id="16" name="Text 14"/>
          <p:cNvSpPr/>
          <p:nvPr/>
        </p:nvSpPr>
        <p:spPr>
          <a:xfrm>
            <a:off x="852679" y="4221670"/>
            <a:ext cx="9601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50" b="1" spc="9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</a:t>
            </a:r>
          </a:p>
          <a:p>
            <a:r>
              <a:rPr lang="en-US" sz="750" b="1" spc="9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r>
              <a:rPr lang="en-US" altLang="zh-CN" sz="750" b="1" spc="9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EMAND</a:t>
            </a:r>
            <a:endParaRPr lang="en-US" sz="750"/>
          </a:p>
        </p:txBody>
      </p:sp>
      <p:sp>
        <p:nvSpPr>
          <p:cNvPr id="17" name="Text 15"/>
          <p:cNvSpPr/>
          <p:nvPr/>
        </p:nvSpPr>
        <p:spPr>
          <a:xfrm>
            <a:off x="1585342" y="4142803"/>
            <a:ext cx="3566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950" b="1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950"/>
          </a:p>
        </p:txBody>
      </p:sp>
      <p:sp>
        <p:nvSpPr>
          <p:cNvPr id="18" name="Text 16"/>
          <p:cNvSpPr/>
          <p:nvPr/>
        </p:nvSpPr>
        <p:spPr>
          <a:xfrm>
            <a:off x="1996822" y="4149661"/>
            <a:ext cx="1645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40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decisions</a:t>
            </a:r>
            <a:endParaRPr lang="en-US" sz="840"/>
          </a:p>
        </p:txBody>
      </p:sp>
      <p:sp>
        <p:nvSpPr>
          <p:cNvPr id="19" name="Text 17"/>
          <p:cNvSpPr/>
          <p:nvPr/>
        </p:nvSpPr>
        <p:spPr>
          <a:xfrm>
            <a:off x="1996822" y="4355401"/>
            <a:ext cx="1645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13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inventory, purchasing, staffing</a:t>
            </a:r>
            <a:endParaRPr lang="en-US" sz="713"/>
          </a:p>
        </p:txBody>
      </p:sp>
      <p:sp>
        <p:nvSpPr>
          <p:cNvPr id="20" name="Text 18"/>
          <p:cNvSpPr/>
          <p:nvPr/>
        </p:nvSpPr>
        <p:spPr>
          <a:xfrm>
            <a:off x="3872485" y="4142803"/>
            <a:ext cx="3566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950" b="1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950"/>
          </a:p>
        </p:txBody>
      </p:sp>
      <p:sp>
        <p:nvSpPr>
          <p:cNvPr id="21" name="Text 19"/>
          <p:cNvSpPr/>
          <p:nvPr/>
        </p:nvSpPr>
        <p:spPr>
          <a:xfrm>
            <a:off x="4283965" y="4149661"/>
            <a:ext cx="1645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40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reporting</a:t>
            </a:r>
            <a:endParaRPr lang="en-US" sz="840"/>
          </a:p>
        </p:txBody>
      </p:sp>
      <p:sp>
        <p:nvSpPr>
          <p:cNvPr id="22" name="Text 20"/>
          <p:cNvSpPr/>
          <p:nvPr/>
        </p:nvSpPr>
        <p:spPr>
          <a:xfrm>
            <a:off x="4283965" y="4355401"/>
            <a:ext cx="1645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13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source of truth</a:t>
            </a:r>
            <a:endParaRPr lang="en-US" sz="713"/>
          </a:p>
        </p:txBody>
      </p:sp>
      <p:sp>
        <p:nvSpPr>
          <p:cNvPr id="23" name="Text 21"/>
          <p:cNvSpPr/>
          <p:nvPr/>
        </p:nvSpPr>
        <p:spPr>
          <a:xfrm>
            <a:off x="6159628" y="4142803"/>
            <a:ext cx="3566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950" b="1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950"/>
          </a:p>
        </p:txBody>
      </p:sp>
      <p:sp>
        <p:nvSpPr>
          <p:cNvPr id="24" name="Text 22"/>
          <p:cNvSpPr/>
          <p:nvPr/>
        </p:nvSpPr>
        <p:spPr>
          <a:xfrm>
            <a:off x="6571108" y="4149661"/>
            <a:ext cx="1645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40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control</a:t>
            </a:r>
            <a:endParaRPr lang="en-US" sz="840"/>
          </a:p>
        </p:txBody>
      </p:sp>
      <p:sp>
        <p:nvSpPr>
          <p:cNvPr id="25" name="Text 23"/>
          <p:cNvSpPr/>
          <p:nvPr/>
        </p:nvSpPr>
        <p:spPr>
          <a:xfrm>
            <a:off x="6571108" y="4355401"/>
            <a:ext cx="1645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13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stores + future growth</a:t>
            </a:r>
            <a:endParaRPr lang="en-US" sz="713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A7A7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589788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75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</a:t>
            </a:r>
            <a:r>
              <a:rPr lang="en-US" altLang="zh-CN" sz="1875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r>
              <a:rPr lang="zh-CN" altLang="en-US" sz="1875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875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r>
              <a:rPr lang="zh-CN" altLang="en-US" sz="1875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875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</a:t>
            </a:r>
            <a:r>
              <a:rPr lang="zh-CN" altLang="en-US" sz="1875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875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“Original Data” </a:t>
            </a:r>
            <a:endParaRPr lang="en-US" sz="1875"/>
          </a:p>
        </p:txBody>
      </p:sp>
      <p:sp>
        <p:nvSpPr>
          <p:cNvPr id="3" name="Text 1"/>
          <p:cNvSpPr/>
          <p:nvPr/>
        </p:nvSpPr>
        <p:spPr>
          <a:xfrm>
            <a:off x="377190" y="953262"/>
            <a:ext cx="81610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no usable historical source file was provided, we modeled representative raw records the new system would receive.</a:t>
            </a:r>
            <a:endParaRPr lang="en-US" sz="788"/>
          </a:p>
        </p:txBody>
      </p:sp>
      <p:sp>
        <p:nvSpPr>
          <p:cNvPr id="4" name="Text 2"/>
          <p:cNvSpPr/>
          <p:nvPr/>
        </p:nvSpPr>
        <p:spPr>
          <a:xfrm>
            <a:off x="411480" y="1303020"/>
            <a:ext cx="1371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750" b="1" spc="9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r>
              <a:rPr lang="zh-CN" altLang="en-US" sz="750" b="1" spc="9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750" b="1" spc="9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r>
              <a:rPr lang="en-US" sz="750" b="1" spc="9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750"/>
          </a:p>
        </p:txBody>
      </p:sp>
      <p:sp>
        <p:nvSpPr>
          <p:cNvPr id="25" name="Shape 23"/>
          <p:cNvSpPr/>
          <p:nvPr/>
        </p:nvSpPr>
        <p:spPr>
          <a:xfrm>
            <a:off x="6645402" y="1543050"/>
            <a:ext cx="2098548" cy="264033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2D2D2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26" name="Shape 24"/>
          <p:cNvSpPr/>
          <p:nvPr/>
        </p:nvSpPr>
        <p:spPr>
          <a:xfrm>
            <a:off x="6791259" y="1714500"/>
            <a:ext cx="48006" cy="246888"/>
          </a:xfrm>
          <a:prstGeom prst="rect">
            <a:avLst/>
          </a:prstGeom>
          <a:solidFill>
            <a:schemeClr val="bg1">
              <a:lumMod val="25000"/>
            </a:schemeClr>
          </a:solidFill>
          <a:ln w="12700">
            <a:solidFill>
              <a:schemeClr val="bg1">
                <a:lumMod val="25000"/>
              </a:schemeClr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27" name="Text 25"/>
          <p:cNvSpPr/>
          <p:nvPr/>
        </p:nvSpPr>
        <p:spPr>
          <a:xfrm>
            <a:off x="6887271" y="1714500"/>
            <a:ext cx="20985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900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r>
              <a:rPr lang="zh-CN" altLang="en-US" sz="900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900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6869206" y="2069777"/>
            <a:ext cx="1650939" cy="1755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zh-CN" altLang="zh-CN" sz="1000" kern="200">
                <a:solidFill>
                  <a:schemeClr val="dk1"/>
                </a:solidFill>
                <a:latin typeface="Hind Madurai"/>
                <a:cs typeface="Hind Madurai"/>
              </a:rPr>
              <a:t>ABC Foodmart did not provide us with a complete historical dataset, so we treated this as the design of a new operational database rather than a traditional data migration project. We first defined what data each business process should generate, and then created synthetic data for stores, employees, products, inventory, purchases, deliveries, sales, returns, and expenses.</a:t>
            </a:r>
            <a:endParaRPr lang="en-US" sz="1000" kern="200">
              <a:solidFill>
                <a:schemeClr val="dk1"/>
              </a:solidFill>
              <a:latin typeface="Hind Madurai"/>
              <a:cs typeface="Hind Madurai"/>
            </a:endParaRPr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A7A7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3</a:t>
            </a:fld>
            <a:endParaRPr lang="en-US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FB5973F-8354-21A3-F371-D255F04F267A}"/>
              </a:ext>
            </a:extLst>
          </p:cNvPr>
          <p:cNvGrpSpPr/>
          <p:nvPr/>
        </p:nvGrpSpPr>
        <p:grpSpPr>
          <a:xfrm>
            <a:off x="2707533" y="1543050"/>
            <a:ext cx="1299411" cy="2640330"/>
            <a:chOff x="4186988" y="1543050"/>
            <a:chExt cx="1299411" cy="2640330"/>
          </a:xfrm>
        </p:grpSpPr>
        <p:sp>
          <p:nvSpPr>
            <p:cNvPr id="5" name="Shape 3"/>
            <p:cNvSpPr/>
            <p:nvPr/>
          </p:nvSpPr>
          <p:spPr>
            <a:xfrm>
              <a:off x="4186988" y="1543050"/>
              <a:ext cx="1299411" cy="2640330"/>
            </a:xfrm>
            <a:prstGeom prst="roundRect">
              <a:avLst>
                <a:gd name="adj" fmla="val 1558"/>
              </a:avLst>
            </a:prstGeom>
            <a:solidFill>
              <a:srgbClr val="FFFFFF"/>
            </a:solidFill>
            <a:ln w="12700">
              <a:solidFill>
                <a:srgbClr val="D2D2D2"/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F5C1FFFA-B533-B9A3-EA94-CA0B86691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124" r="16258"/>
            <a:stretch>
              <a:fillRect/>
            </a:stretch>
          </p:blipFill>
          <p:spPr>
            <a:xfrm>
              <a:off x="4265526" y="1635129"/>
              <a:ext cx="1128347" cy="2519106"/>
            </a:xfrm>
            <a:prstGeom prst="rect">
              <a:avLst/>
            </a:prstGeom>
          </p:spPr>
        </p:pic>
      </p:grpSp>
      <p:sp>
        <p:nvSpPr>
          <p:cNvPr id="38" name="Shape 2">
            <a:extLst>
              <a:ext uri="{FF2B5EF4-FFF2-40B4-BE49-F238E27FC236}">
                <a16:creationId xmlns:a16="http://schemas.microsoft.com/office/drawing/2014/main" id="{5675527D-60F7-B5F7-98A2-F9416F9E8C31}"/>
              </a:ext>
            </a:extLst>
          </p:cNvPr>
          <p:cNvSpPr/>
          <p:nvPr/>
        </p:nvSpPr>
        <p:spPr>
          <a:xfrm>
            <a:off x="377190" y="1543050"/>
            <a:ext cx="2106539" cy="2647188"/>
          </a:xfrm>
          <a:prstGeom prst="roundRect">
            <a:avLst>
              <a:gd name="adj" fmla="val 172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C447277-8F20-B13C-709C-611B6B9D3F9B}"/>
              </a:ext>
            </a:extLst>
          </p:cNvPr>
          <p:cNvSpPr txBox="1"/>
          <p:nvPr/>
        </p:nvSpPr>
        <p:spPr>
          <a:xfrm>
            <a:off x="411480" y="1579734"/>
            <a:ext cx="1996257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Authoritative final PostgreSQL row counts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 = 5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job_roles = 6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 = 80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staff_shifts = 3627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time_off_requests = 80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product_categories = 8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 = 48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store_inventory = 126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inventory_adjustments = 128381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vendors = 10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vendor_products = 93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purchase_orders = 1240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purchase_order_items = 4943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deliveries = 1210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sales_transactions = 36000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sales_items = 122906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customer_returns = 720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 = 37333</a:t>
            </a:r>
          </a:p>
          <a:p>
            <a:r>
              <a:rPr lang="en-US" altLang="zh-CN" sz="70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operating_expenses = 119</a:t>
            </a:r>
          </a:p>
          <a:p>
            <a:endParaRPr lang="en-US" altLang="zh-CN" sz="700" dirty="0">
              <a:solidFill>
                <a:srgbClr val="F3F3F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E7C4BEC7-8D72-3717-B00B-75C6BB94DF99}"/>
              </a:ext>
            </a:extLst>
          </p:cNvPr>
          <p:cNvSpPr/>
          <p:nvPr/>
        </p:nvSpPr>
        <p:spPr>
          <a:xfrm>
            <a:off x="2707533" y="1301165"/>
            <a:ext cx="1371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750" b="1" spc="9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r>
              <a:rPr lang="zh-CN" altLang="en-US" sz="750" b="1" spc="9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750" b="1" spc="9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STAGING</a:t>
            </a:r>
            <a:endParaRPr lang="en-US" sz="75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C498088B-E903-39F0-D130-35F1A60F1F86}"/>
              </a:ext>
            </a:extLst>
          </p:cNvPr>
          <p:cNvGrpSpPr/>
          <p:nvPr/>
        </p:nvGrpSpPr>
        <p:grpSpPr>
          <a:xfrm>
            <a:off x="4281848" y="1536192"/>
            <a:ext cx="2088649" cy="2654046"/>
            <a:chOff x="5824881" y="2337005"/>
            <a:chExt cx="2088649" cy="2654046"/>
          </a:xfrm>
        </p:grpSpPr>
        <p:sp>
          <p:nvSpPr>
            <p:cNvPr id="43" name="Shape 2">
              <a:extLst>
                <a:ext uri="{FF2B5EF4-FFF2-40B4-BE49-F238E27FC236}">
                  <a16:creationId xmlns:a16="http://schemas.microsoft.com/office/drawing/2014/main" id="{C5D0A8B0-9BA8-9A12-7292-FA6B6C4F8586}"/>
                </a:ext>
              </a:extLst>
            </p:cNvPr>
            <p:cNvSpPr/>
            <p:nvPr/>
          </p:nvSpPr>
          <p:spPr>
            <a:xfrm>
              <a:off x="5824881" y="2337005"/>
              <a:ext cx="2088649" cy="2654046"/>
            </a:xfrm>
            <a:prstGeom prst="roundRect">
              <a:avLst>
                <a:gd name="adj" fmla="val 1720"/>
              </a:avLst>
            </a:prstGeom>
            <a:solidFill>
              <a:srgbClr val="1E1E1E"/>
            </a:solidFill>
            <a:ln w="12700">
              <a:solidFill>
                <a:srgbClr val="1E1E1E"/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1B9905E6-42BC-1432-389D-2ADDE970E46A}"/>
                </a:ext>
              </a:extLst>
            </p:cNvPr>
            <p:cNvSpPr txBox="1"/>
            <p:nvPr/>
          </p:nvSpPr>
          <p:spPr>
            <a:xfrm>
              <a:off x="5927480" y="2435942"/>
              <a:ext cx="1862051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800">
                  <a:solidFill>
                    <a:srgbClr val="F3F3F3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Dataset note</a:t>
              </a:r>
            </a:p>
            <a:p>
              <a:r>
                <a:rPr lang="en-US" altLang="zh-CN" sz="800">
                  <a:solidFill>
                    <a:srgbClr val="F3F3F3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---------------------------</a:t>
              </a:r>
            </a:p>
            <a:p>
              <a:r>
                <a:rPr lang="en-US" altLang="zh-CN" sz="800">
                  <a:solidFill>
                    <a:srgbClr val="F3F3F3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The package contains exactly 19 CSV files. The staged inventory_adjustments.csv contains 5,475 non-sale adjustments. During PostgreSQL loading, the validated sales-item trigger adds 122,906 sale adjustments, producing the authoritative loaded count of 128,381.</a:t>
              </a:r>
            </a:p>
            <a:p>
              <a:endParaRPr lang="en-US" altLang="zh-CN" sz="80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589788"/>
            <a:ext cx="799871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75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Database Design</a:t>
            </a:r>
            <a:endParaRPr lang="en-US" sz="1875"/>
          </a:p>
        </p:txBody>
      </p:sp>
      <p:sp>
        <p:nvSpPr>
          <p:cNvPr id="3" name="Text 1"/>
          <p:cNvSpPr/>
          <p:nvPr/>
        </p:nvSpPr>
        <p:spPr>
          <a:xfrm>
            <a:off x="377190" y="953262"/>
            <a:ext cx="81610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788">
                <a:solidFill>
                  <a:srgbClr val="666666"/>
                </a:solidFill>
                <a:latin typeface="Aptos" pitchFamily="34" charset="0"/>
              </a:rPr>
              <a:t>19 Tables Organized Around Five Business Domains:</a:t>
            </a:r>
            <a:r>
              <a:rPr lang="zh-CN" altLang="en-US" sz="788">
                <a:solidFill>
                  <a:srgbClr val="666666"/>
                </a:solidFill>
                <a:latin typeface="Aptos" pitchFamily="34" charset="0"/>
              </a:rPr>
              <a:t> </a:t>
            </a:r>
            <a:r>
              <a:rPr lang="en-US" sz="788">
                <a:solidFill>
                  <a:srgbClr val="666666"/>
                </a:solidFill>
                <a:latin typeface="Aptos" pitchFamily="34" charset="0"/>
              </a:rPr>
              <a:t>The ER model </a:t>
            </a:r>
            <a:r>
              <a:rPr lang="en-US" sz="788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operational events into connected entities and relationships</a:t>
            </a:r>
            <a:endParaRPr lang="en-US" sz="788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A7A7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4</a:t>
            </a:fld>
            <a:endParaRPr lang="en-US"/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32A9E4D0-BB3E-B71C-CE1E-2804C50EB6B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3675"/>
          <a:stretch>
            <a:fillRect/>
          </a:stretch>
        </p:blipFill>
        <p:spPr>
          <a:xfrm>
            <a:off x="1022280" y="1179576"/>
            <a:ext cx="5133890" cy="3584448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905B58D1-F394-114F-C251-358C3963F80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D8CEFF">
                  <a:alpha val="10196"/>
                </a:srgbClr>
              </a:clrFrom>
              <a:clrTo>
                <a:srgbClr val="D8CEFF">
                  <a:alpha val="0"/>
                </a:srgbClr>
              </a:clrTo>
            </a:clrChange>
          </a:blip>
          <a:srcRect l="23072"/>
          <a:stretch>
            <a:fillRect/>
          </a:stretch>
        </p:blipFill>
        <p:spPr>
          <a:xfrm>
            <a:off x="6841970" y="558289"/>
            <a:ext cx="1818018" cy="4325230"/>
          </a:xfrm>
          <a:prstGeom prst="rect">
            <a:avLst/>
          </a:prstGeom>
        </p:spPr>
      </p:pic>
      <p:sp>
        <p:nvSpPr>
          <p:cNvPr id="78" name="Text 3">
            <a:extLst>
              <a:ext uri="{FF2B5EF4-FFF2-40B4-BE49-F238E27FC236}">
                <a16:creationId xmlns:a16="http://schemas.microsoft.com/office/drawing/2014/main" id="{FEB18F32-C295-510A-BA7D-D112F49AEA17}"/>
              </a:ext>
            </a:extLst>
          </p:cNvPr>
          <p:cNvSpPr/>
          <p:nvPr/>
        </p:nvSpPr>
        <p:spPr>
          <a:xfrm>
            <a:off x="4181045" y="1271016"/>
            <a:ext cx="1929308" cy="3252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endParaRPr lang="en-US" sz="660">
              <a:solidFill>
                <a:srgbClr val="F3F3F3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79" name="Text 2">
            <a:extLst>
              <a:ext uri="{FF2B5EF4-FFF2-40B4-BE49-F238E27FC236}">
                <a16:creationId xmlns:a16="http://schemas.microsoft.com/office/drawing/2014/main" id="{EFE89B4B-46A2-89A8-0A46-C49A54AEF250}"/>
              </a:ext>
            </a:extLst>
          </p:cNvPr>
          <p:cNvSpPr/>
          <p:nvPr/>
        </p:nvSpPr>
        <p:spPr>
          <a:xfrm>
            <a:off x="605790" y="1391862"/>
            <a:ext cx="1371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1000" b="1" spc="9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</a:t>
            </a:r>
            <a:r>
              <a:rPr lang="zh-CN" altLang="en-US" sz="1000" b="1" spc="9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000" b="1" spc="9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 </a:t>
            </a:r>
            <a:endParaRPr lang="en-US" sz="1000"/>
          </a:p>
        </p:txBody>
      </p:sp>
      <p:sp>
        <p:nvSpPr>
          <p:cNvPr id="80" name="Text 2">
            <a:extLst>
              <a:ext uri="{FF2B5EF4-FFF2-40B4-BE49-F238E27FC236}">
                <a16:creationId xmlns:a16="http://schemas.microsoft.com/office/drawing/2014/main" id="{9E100D51-8DC8-9722-578D-C4179501303D}"/>
              </a:ext>
            </a:extLst>
          </p:cNvPr>
          <p:cNvSpPr/>
          <p:nvPr/>
        </p:nvSpPr>
        <p:spPr>
          <a:xfrm>
            <a:off x="6156170" y="1391862"/>
            <a:ext cx="1371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1000" b="1" spc="90">
                <a:solidFill>
                  <a:srgbClr val="666666"/>
                </a:solidFill>
                <a:latin typeface="Aptos" pitchFamily="34" charset="0"/>
              </a:rPr>
              <a:t>MIND</a:t>
            </a:r>
            <a:r>
              <a:rPr lang="zh-CN" altLang="en-US" sz="1000" b="1" spc="90">
                <a:solidFill>
                  <a:srgbClr val="666666"/>
                </a:solidFill>
                <a:latin typeface="Aptos" pitchFamily="34" charset="0"/>
              </a:rPr>
              <a:t> </a:t>
            </a:r>
            <a:r>
              <a:rPr lang="en-US" altLang="zh-CN" sz="1000" b="1" spc="90">
                <a:solidFill>
                  <a:srgbClr val="666666"/>
                </a:solidFill>
                <a:latin typeface="Aptos" pitchFamily="34" charset="0"/>
              </a:rPr>
              <a:t>MAP</a:t>
            </a:r>
            <a:endParaRPr lang="en-US" sz="1000" b="1" spc="90">
              <a:solidFill>
                <a:srgbClr val="666666"/>
              </a:solidFill>
              <a:latin typeface="Aptos" pitchFamily="34" charset="0"/>
            </a:endParaRPr>
          </a:p>
        </p:txBody>
      </p:sp>
      <p:sp>
        <p:nvSpPr>
          <p:cNvPr id="81" name="Shape 24">
            <a:extLst>
              <a:ext uri="{FF2B5EF4-FFF2-40B4-BE49-F238E27FC236}">
                <a16:creationId xmlns:a16="http://schemas.microsoft.com/office/drawing/2014/main" id="{C9AF92C9-3D93-C9D9-E78C-FCD467506FCF}"/>
              </a:ext>
            </a:extLst>
          </p:cNvPr>
          <p:cNvSpPr/>
          <p:nvPr/>
        </p:nvSpPr>
        <p:spPr>
          <a:xfrm>
            <a:off x="484012" y="1354143"/>
            <a:ext cx="48006" cy="24688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82" name="Shape 24">
            <a:extLst>
              <a:ext uri="{FF2B5EF4-FFF2-40B4-BE49-F238E27FC236}">
                <a16:creationId xmlns:a16="http://schemas.microsoft.com/office/drawing/2014/main" id="{9CFF35D9-B808-61AF-6BAC-78419CE0238A}"/>
              </a:ext>
            </a:extLst>
          </p:cNvPr>
          <p:cNvSpPr/>
          <p:nvPr/>
        </p:nvSpPr>
        <p:spPr>
          <a:xfrm>
            <a:off x="6018650" y="1354662"/>
            <a:ext cx="48006" cy="24688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9036B-6A60-A158-3A75-91FA29105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6240EE-4D00-7105-2934-BB4B8A8315D6}"/>
              </a:ext>
            </a:extLst>
          </p:cNvPr>
          <p:cNvSpPr/>
          <p:nvPr/>
        </p:nvSpPr>
        <p:spPr>
          <a:xfrm>
            <a:off x="377190" y="589788"/>
            <a:ext cx="799871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</a:t>
            </a:r>
            <a:r>
              <a:rPr lang="zh-CN" altLang="en-US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Schema:</a:t>
            </a:r>
            <a:r>
              <a:rPr lang="zh-CN" altLang="en-US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r>
              <a:rPr lang="zh-CN" altLang="en-US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r>
              <a:rPr lang="zh-CN" altLang="en-US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875" dirty="0"/>
          </a:p>
        </p:txBody>
      </p:sp>
      <p:sp>
        <p:nvSpPr>
          <p:cNvPr id="26" name="Slide Number Placeholder 0">
            <a:extLst>
              <a:ext uri="{FF2B5EF4-FFF2-40B4-BE49-F238E27FC236}">
                <a16:creationId xmlns:a16="http://schemas.microsoft.com/office/drawing/2014/main" id="{52A74972-4C38-97FE-EABE-6484F027804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A7A7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5</a:t>
            </a:fld>
            <a:endParaRPr 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8B2902F-7C95-442D-0099-5D6E3700B161}"/>
              </a:ext>
            </a:extLst>
          </p:cNvPr>
          <p:cNvGrpSpPr>
            <a:grpSpLocks noChangeAspect="1"/>
          </p:cNvGrpSpPr>
          <p:nvPr/>
        </p:nvGrpSpPr>
        <p:grpSpPr>
          <a:xfrm>
            <a:off x="377190" y="1300976"/>
            <a:ext cx="3417664" cy="3403250"/>
            <a:chOff x="-198251" y="1263573"/>
            <a:chExt cx="3571717" cy="355665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FB91E35-0C53-B61F-7AEF-2175827C6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190" y="1263573"/>
              <a:ext cx="2996276" cy="167639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3AD1C97-4F57-1242-C626-1A3D6F68C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8017" r="4758"/>
            <a:stretch>
              <a:fillRect/>
            </a:stretch>
          </p:blipFill>
          <p:spPr>
            <a:xfrm>
              <a:off x="948999" y="2863273"/>
              <a:ext cx="1894160" cy="1603538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414045E-CFC8-EC5E-50E9-2BAF86A10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590" r="14075"/>
            <a:stretch>
              <a:fillRect/>
            </a:stretch>
          </p:blipFill>
          <p:spPr>
            <a:xfrm>
              <a:off x="-198251" y="2493818"/>
              <a:ext cx="1030191" cy="2326408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F5800F1-C3B6-A612-8403-AC66AEE10044}"/>
              </a:ext>
            </a:extLst>
          </p:cNvPr>
          <p:cNvGrpSpPr/>
          <p:nvPr/>
        </p:nvGrpSpPr>
        <p:grpSpPr>
          <a:xfrm>
            <a:off x="3990109" y="1291832"/>
            <a:ext cx="4776701" cy="3412394"/>
            <a:chOff x="4065966" y="1152787"/>
            <a:chExt cx="4700844" cy="3551438"/>
          </a:xfrm>
        </p:grpSpPr>
        <p:sp>
          <p:nvSpPr>
            <p:cNvPr id="9" name="Shape 2">
              <a:extLst>
                <a:ext uri="{FF2B5EF4-FFF2-40B4-BE49-F238E27FC236}">
                  <a16:creationId xmlns:a16="http://schemas.microsoft.com/office/drawing/2014/main" id="{65468CAE-B8D5-CA7A-6649-0B9FB3B20647}"/>
                </a:ext>
              </a:extLst>
            </p:cNvPr>
            <p:cNvSpPr/>
            <p:nvPr/>
          </p:nvSpPr>
          <p:spPr>
            <a:xfrm>
              <a:off x="4065966" y="1152787"/>
              <a:ext cx="4700844" cy="3551438"/>
            </a:xfrm>
            <a:prstGeom prst="roundRect">
              <a:avLst>
                <a:gd name="adj" fmla="val 1720"/>
              </a:avLst>
            </a:prstGeom>
            <a:solidFill>
              <a:srgbClr val="1E1E1E"/>
            </a:solidFill>
            <a:ln w="12700">
              <a:solidFill>
                <a:srgbClr val="1E1E1E"/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10" name="Text 3">
              <a:extLst>
                <a:ext uri="{FF2B5EF4-FFF2-40B4-BE49-F238E27FC236}">
                  <a16:creationId xmlns:a16="http://schemas.microsoft.com/office/drawing/2014/main" id="{7A44D0C9-D7AF-7145-0867-A7BFB29FAA73}"/>
                </a:ext>
              </a:extLst>
            </p:cNvPr>
            <p:cNvSpPr/>
            <p:nvPr/>
          </p:nvSpPr>
          <p:spPr>
            <a:xfrm>
              <a:off x="4292280" y="1275021"/>
              <a:ext cx="4276462" cy="3252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CREATE TABLE stores (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store_id            BIGINT GENERATED ALWAYS AS IDENTITY PRIMARY KEY,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store_name          VARCHAR(120) NOT NULL UNIQUE,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borough             VARCHAR(40) NOT NULL CHECK (borough IN ('Queens', 'Brooklyn')),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street_address      VARCHAR(200) NOT NULL,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  city                VARCHAR(</a:t>
              </a:r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80) NOT NULL DEFAULT 'New York',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state               CHAR(2) NOT NULL DEFAULT 'NY',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zip_code            VARCHAR(10) NOT NULL,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opening_time        TIME NOT NULL,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closing_time        TIME NOT NULL,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operational_status  VARCHAR(20) NOT NULL DEFAULT 'active'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    CHECK (operational_status IN ('planned', 'active', 'temporarily_closed', 'closed')),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CHECK (opening_time &lt; closing_time)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);</a:t>
              </a:r>
            </a:p>
            <a:p>
              <a:endParaRPr lang="en-US" sz="570">
                <a:solidFill>
                  <a:srgbClr val="F3F3F3"/>
                </a:solidFill>
                <a:latin typeface="Courier New" pitchFamily="34" charset="0"/>
                <a:cs typeface="Courier New" pitchFamily="34" charset="-120"/>
              </a:endParaRP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CREATE TABLE store_inventory (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store_id            BIGINT NOT NULL REFERENCES stores(store_id),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product_id          BIGINT NOT NULL REFERENCES products(product_id),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quantity_on_hand    INTEGER NOT NULL DEFAULT 0 CHECK (quantity_on_hand &gt;= 0),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reorder_threshold   INTEGER NOT NULL DEFAULT 0 CHECK (reorder_threshold &gt;= 0),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PRIMARY KEY (store_id, product_id)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);</a:t>
              </a:r>
            </a:p>
            <a:p>
              <a:endParaRPr lang="en-US" sz="570">
                <a:solidFill>
                  <a:srgbClr val="F3F3F3"/>
                </a:solidFill>
                <a:latin typeface="Courier New" pitchFamily="34" charset="0"/>
                <a:cs typeface="Courier New" pitchFamily="34" charset="-120"/>
              </a:endParaRP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CREATE TABLE sales_items (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sale_item_id        BIGINT GENERATED ALWAYS AS IDENTITY PRIMARY KEY,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sale_id             BIGINT NOT NULL REFERENCES sales_transactions(sale_id) ON DELETE CASCADE,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product_id          BIGINT NOT NULL REFERENCES products(product_id),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quantity_sold       INTEGER NOT NULL CHECK (quantity_sold &gt; 0),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unit_retail_price   NUMERIC(10,2) NOT NULL CHECK (unit_retail_price &gt;= 0),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item_discount       NUMERIC(10,2) NOT NULL DEFAULT 0 CHECK (item_discount &gt;= 0),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UNIQUE (sale_id, product_id),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    CHECK (item_discount &lt;= quantity_sold * unit_retail_price)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);</a:t>
              </a:r>
            </a:p>
            <a:p>
              <a:endParaRPr lang="en-US" sz="570">
                <a:solidFill>
                  <a:srgbClr val="F3F3F3"/>
                </a:solidFill>
                <a:latin typeface="Courier New" pitchFamily="34" charset="0"/>
                <a:cs typeface="Courier New" pitchFamily="34" charset="-120"/>
              </a:endParaRP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CREATE TRIGGER trg_reduce_inventory_after_sale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AFTER INSERT ON sales_items</a:t>
              </a:r>
            </a:p>
            <a:p>
              <a:r>
                <a:rPr lang="en-US" sz="570">
                  <a:solidFill>
                    <a:srgbClr val="F3F3F3"/>
                  </a:solidFill>
                  <a:latin typeface="Courier New" pitchFamily="34" charset="0"/>
                  <a:cs typeface="Courier New" pitchFamily="34" charset="-120"/>
                </a:rPr>
                <a:t>FOR EACH ROW EXECUTE FUNCTION reduce_inventory_after_sale();</a:t>
              </a:r>
            </a:p>
            <a:p>
              <a:endParaRPr lang="en-US" sz="570"/>
            </a:p>
          </p:txBody>
        </p:sp>
      </p:grpSp>
      <p:sp>
        <p:nvSpPr>
          <p:cNvPr id="13" name="Text 1">
            <a:extLst>
              <a:ext uri="{FF2B5EF4-FFF2-40B4-BE49-F238E27FC236}">
                <a16:creationId xmlns:a16="http://schemas.microsoft.com/office/drawing/2014/main" id="{D36F0D50-7A90-3E94-6048-4ADBA0DF75D6}"/>
              </a:ext>
            </a:extLst>
          </p:cNvPr>
          <p:cNvSpPr/>
          <p:nvPr/>
        </p:nvSpPr>
        <p:spPr>
          <a:xfrm>
            <a:off x="377190" y="953262"/>
            <a:ext cx="81610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example</a:t>
            </a:r>
            <a:endParaRPr lang="en-US" sz="788"/>
          </a:p>
        </p:txBody>
      </p:sp>
    </p:spTree>
    <p:extLst>
      <p:ext uri="{BB962C8B-B14F-4D97-AF65-F5344CB8AC3E}">
        <p14:creationId xmlns:p14="http://schemas.microsoft.com/office/powerpoint/2010/main" val="2325946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86776-2B2F-711A-DEE7-45BA6D71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7964741-BF7E-7EA9-4BC2-D571D82488EE}"/>
              </a:ext>
            </a:extLst>
          </p:cNvPr>
          <p:cNvSpPr/>
          <p:nvPr/>
        </p:nvSpPr>
        <p:spPr>
          <a:xfrm>
            <a:off x="377190" y="589788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</a:t>
            </a:r>
            <a:r>
              <a:rPr lang="zh-CN" altLang="en-US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Data:</a:t>
            </a:r>
            <a:r>
              <a:rPr lang="zh-CN" altLang="en-US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r>
              <a:rPr lang="zh-CN" altLang="en-US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r>
              <a:rPr lang="en-US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875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6136C0-FAB4-EE18-FAD0-36BD709D1632}"/>
              </a:ext>
            </a:extLst>
          </p:cNvPr>
          <p:cNvSpPr/>
          <p:nvPr/>
        </p:nvSpPr>
        <p:spPr>
          <a:xfrm>
            <a:off x="377190" y="953262"/>
            <a:ext cx="81610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example</a:t>
            </a:r>
            <a:endParaRPr lang="en-US" sz="788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B39DF3-35FE-C36C-C288-B51732CE3FC3}"/>
              </a:ext>
            </a:extLst>
          </p:cNvPr>
          <p:cNvSpPr/>
          <p:nvPr/>
        </p:nvSpPr>
        <p:spPr>
          <a:xfrm>
            <a:off x="445770" y="1371600"/>
            <a:ext cx="4937760" cy="3188970"/>
          </a:xfrm>
          <a:prstGeom prst="roundRect">
            <a:avLst>
              <a:gd name="adj" fmla="val 172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D89A40-3250-D370-0064-34A7D69E9431}"/>
              </a:ext>
            </a:extLst>
          </p:cNvPr>
          <p:cNvSpPr/>
          <p:nvPr/>
        </p:nvSpPr>
        <p:spPr>
          <a:xfrm>
            <a:off x="672084" y="1645920"/>
            <a:ext cx="44919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93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s.store_name,</a:t>
            </a:r>
          </a:p>
          <a:p>
            <a:r>
              <a:rPr lang="en-US" sz="93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p.product_name,</a:t>
            </a:r>
          </a:p>
          <a:p>
            <a:r>
              <a:rPr lang="en-US" sz="93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i.quantity_on_hand,</a:t>
            </a:r>
          </a:p>
          <a:p>
            <a:r>
              <a:rPr lang="en-US" sz="93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i.reorder_threshold</a:t>
            </a:r>
          </a:p>
          <a:p>
            <a:r>
              <a:rPr lang="en-US" sz="93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store_inventory i</a:t>
            </a:r>
          </a:p>
          <a:p>
            <a:r>
              <a:rPr lang="en-US" sz="93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stores s</a:t>
            </a:r>
          </a:p>
          <a:p>
            <a:r>
              <a:rPr lang="en-US" sz="93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s.store_id = i.store_id</a:t>
            </a:r>
          </a:p>
          <a:p>
            <a:r>
              <a:rPr lang="en-US" sz="93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products p</a:t>
            </a:r>
          </a:p>
          <a:p>
            <a:r>
              <a:rPr lang="en-US" sz="93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p.product_id = i.product_id</a:t>
            </a:r>
          </a:p>
          <a:p>
            <a:r>
              <a:rPr lang="en-US" sz="93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i.quantity_on_hand &lt;= i.reorder_threshold</a:t>
            </a:r>
          </a:p>
          <a:p>
            <a:r>
              <a:rPr lang="en-US" sz="930" dirty="0">
                <a:solidFill>
                  <a:srgbClr val="F3F3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s.store_name, i.quantity_on_hand;</a:t>
            </a:r>
            <a:endParaRPr lang="en-US" sz="93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D1B517D-FA07-07EC-2993-BDE01719007C}"/>
              </a:ext>
            </a:extLst>
          </p:cNvPr>
          <p:cNvSpPr/>
          <p:nvPr/>
        </p:nvSpPr>
        <p:spPr>
          <a:xfrm>
            <a:off x="672084" y="3806190"/>
            <a:ext cx="51435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698" b="1" spc="75" dirty="0">
                <a:solidFill>
                  <a:srgbClr val="AFA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698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95C3784-F192-2BA2-520B-18BFF5157046}"/>
              </a:ext>
            </a:extLst>
          </p:cNvPr>
          <p:cNvSpPr/>
          <p:nvPr/>
        </p:nvSpPr>
        <p:spPr>
          <a:xfrm>
            <a:off x="672084" y="4059936"/>
            <a:ext cx="41833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 dirty="0">
                <a:solidFill>
                  <a:srgbClr val="D9D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Flushing  |  Whole Milk  |  7 on hand  |  threshold 10</a:t>
            </a:r>
            <a:endParaRPr lang="en-US" sz="788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371B6DD-42C9-6A70-3F2B-1112E96A5206}"/>
              </a:ext>
            </a:extLst>
          </p:cNvPr>
          <p:cNvSpPr/>
          <p:nvPr/>
        </p:nvSpPr>
        <p:spPr>
          <a:xfrm>
            <a:off x="5657850" y="1440180"/>
            <a:ext cx="48006" cy="246888"/>
          </a:xfrm>
          <a:prstGeom prst="rect">
            <a:avLst/>
          </a:prstGeom>
          <a:solidFill>
            <a:schemeClr val="bg1">
              <a:lumMod val="25000"/>
            </a:schemeClr>
          </a:solidFill>
          <a:ln w="12700">
            <a:solidFill>
              <a:schemeClr val="bg1">
                <a:lumMod val="25000"/>
              </a:schemeClr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4DCAE20-E730-8C9E-DF37-D49CB3F74767}"/>
              </a:ext>
            </a:extLst>
          </p:cNvPr>
          <p:cNvSpPr/>
          <p:nvPr/>
        </p:nvSpPr>
        <p:spPr>
          <a:xfrm>
            <a:off x="5779989" y="1440180"/>
            <a:ext cx="25100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r>
              <a:rPr lang="zh-CN" altLang="en-US" sz="1100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？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18753F7-9D7D-7076-E319-110F01909C6B}"/>
              </a:ext>
            </a:extLst>
          </p:cNvPr>
          <p:cNvSpPr/>
          <p:nvPr/>
        </p:nvSpPr>
        <p:spPr>
          <a:xfrm>
            <a:off x="5657850" y="1954530"/>
            <a:ext cx="37719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000" b="1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BB13100-EFF0-175E-5B7E-4A81350F398D}"/>
              </a:ext>
            </a:extLst>
          </p:cNvPr>
          <p:cNvSpPr/>
          <p:nvPr/>
        </p:nvSpPr>
        <p:spPr>
          <a:xfrm>
            <a:off x="6137910" y="1912836"/>
            <a:ext cx="78867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8E3A4A2-E1E1-D878-25BA-B7F58BE12FB2}"/>
              </a:ext>
            </a:extLst>
          </p:cNvPr>
          <p:cNvSpPr/>
          <p:nvPr/>
        </p:nvSpPr>
        <p:spPr>
          <a:xfrm>
            <a:off x="6137910" y="2104860"/>
            <a:ext cx="2125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joins inventory, store, and product context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89A4AA0-2CF0-BA0D-A718-1209668A9E1F}"/>
              </a:ext>
            </a:extLst>
          </p:cNvPr>
          <p:cNvSpPr/>
          <p:nvPr/>
        </p:nvSpPr>
        <p:spPr>
          <a:xfrm>
            <a:off x="5657850" y="2674620"/>
            <a:ext cx="37719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000" b="1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746B315-D3F3-005D-CD7C-F26F9FE67E31}"/>
              </a:ext>
            </a:extLst>
          </p:cNvPr>
          <p:cNvSpPr/>
          <p:nvPr/>
        </p:nvSpPr>
        <p:spPr>
          <a:xfrm>
            <a:off x="6137910" y="2650344"/>
            <a:ext cx="78867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4E2D7F8-E102-702A-BBF4-8B056A027AEE}"/>
              </a:ext>
            </a:extLst>
          </p:cNvPr>
          <p:cNvSpPr/>
          <p:nvPr/>
        </p:nvSpPr>
        <p:spPr>
          <a:xfrm>
            <a:off x="6137910" y="2842368"/>
            <a:ext cx="2125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only items requiring replenishment attention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7F6DB18-7F13-FA34-70E0-25D4A92619CC}"/>
              </a:ext>
            </a:extLst>
          </p:cNvPr>
          <p:cNvSpPr/>
          <p:nvPr/>
        </p:nvSpPr>
        <p:spPr>
          <a:xfrm>
            <a:off x="5657850" y="3394710"/>
            <a:ext cx="37719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000" b="1" dirty="0">
                <a:solidFill>
                  <a:srgbClr val="B7B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A5B8883-3E99-A3DE-CA53-5BFA36C2003B}"/>
              </a:ext>
            </a:extLst>
          </p:cNvPr>
          <p:cNvSpPr/>
          <p:nvPr/>
        </p:nvSpPr>
        <p:spPr>
          <a:xfrm>
            <a:off x="6137910" y="3370434"/>
            <a:ext cx="78867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B134735-B9C4-16F8-ACBA-AFA456DF13D7}"/>
              </a:ext>
            </a:extLst>
          </p:cNvPr>
          <p:cNvSpPr/>
          <p:nvPr/>
        </p:nvSpPr>
        <p:spPr>
          <a:xfrm>
            <a:off x="6137910" y="3562458"/>
            <a:ext cx="2125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query powers analyst workflows and dashboard cards</a:t>
            </a:r>
            <a:endParaRPr lang="en-US" sz="1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90A7EBC-C585-C0A5-07BB-CE61022B7E4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A7A7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57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589788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Design Choices: Normalized, Connected, Enforced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377190" y="953262"/>
            <a:ext cx="81610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designed for maintainability first — then let SQL joins reconstruct the business view when needed.</a:t>
            </a:r>
            <a:endParaRPr lang="en-US" sz="788" dirty="0"/>
          </a:p>
        </p:txBody>
      </p:sp>
      <p:sp>
        <p:nvSpPr>
          <p:cNvPr id="4" name="Shape 2"/>
          <p:cNvSpPr/>
          <p:nvPr/>
        </p:nvSpPr>
        <p:spPr>
          <a:xfrm>
            <a:off x="445770" y="1405890"/>
            <a:ext cx="2537460" cy="270891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5" name="Text 3"/>
          <p:cNvSpPr/>
          <p:nvPr/>
        </p:nvSpPr>
        <p:spPr>
          <a:xfrm>
            <a:off x="596646" y="1577340"/>
            <a:ext cx="4800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00" b="1" dirty="0">
                <a:solidFill>
                  <a:srgbClr val="C8C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6646" y="2057400"/>
            <a:ext cx="2057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3NF NORMALIZATION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6646" y="2414016"/>
            <a:ext cx="48006" cy="99441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8" name="Text 6"/>
          <p:cNvSpPr/>
          <p:nvPr/>
        </p:nvSpPr>
        <p:spPr>
          <a:xfrm>
            <a:off x="774954" y="2414016"/>
            <a:ext cx="1920240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stores, employees, categories, vendors, orders, transactions, and expenses so each fact is stored once and update anomalies are minimized.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8124" y="1405890"/>
            <a:ext cx="2537460" cy="270891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10" name="Text 8"/>
          <p:cNvSpPr/>
          <p:nvPr/>
        </p:nvSpPr>
        <p:spPr>
          <a:xfrm>
            <a:off x="3429000" y="1577340"/>
            <a:ext cx="4800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00" b="1" dirty="0">
                <a:solidFill>
                  <a:srgbClr val="C8C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429000" y="2057400"/>
            <a:ext cx="2057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ASSOCIATIVE TABLES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2414016"/>
            <a:ext cx="48006" cy="99441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13" name="Text 11"/>
          <p:cNvSpPr/>
          <p:nvPr/>
        </p:nvSpPr>
        <p:spPr>
          <a:xfrm>
            <a:off x="3607308" y="2414016"/>
            <a:ext cx="1920240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 many-to-many relationships such as vendor–product and sale–product. This preserves flexibility without duplicating descriptive attributes.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0478" y="1405890"/>
            <a:ext cx="2537460" cy="270891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15" name="Text 13"/>
          <p:cNvSpPr/>
          <p:nvPr/>
        </p:nvSpPr>
        <p:spPr>
          <a:xfrm>
            <a:off x="6261354" y="1577340"/>
            <a:ext cx="4800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00" b="1" dirty="0">
                <a:solidFill>
                  <a:srgbClr val="C8C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261354" y="2057400"/>
            <a:ext cx="20574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INTEGRITY RULES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1354" y="2414016"/>
            <a:ext cx="48006" cy="994410"/>
          </a:xfrm>
          <a:prstGeom prst="rect">
            <a:avLst/>
          </a:prstGeom>
          <a:solidFill>
            <a:schemeClr val="bg1">
              <a:lumMod val="90000"/>
            </a:schemeClr>
          </a:solidFill>
          <a:ln w="12700">
            <a:solidFill>
              <a:schemeClr val="bg1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18" name="Text 16"/>
          <p:cNvSpPr/>
          <p:nvPr/>
        </p:nvSpPr>
        <p:spPr>
          <a:xfrm>
            <a:off x="6439662" y="2414016"/>
            <a:ext cx="1920240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keys, foreign keys, CHECK constraints, and NOT NULL rules protect valid references and reduce bad operational states.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5770" y="4437126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698" b="1" spc="75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</a:t>
            </a:r>
            <a:endParaRPr lang="en-US" sz="698" dirty="0"/>
          </a:p>
        </p:txBody>
      </p:sp>
      <p:sp>
        <p:nvSpPr>
          <p:cNvPr id="20" name="Text 18"/>
          <p:cNvSpPr/>
          <p:nvPr/>
        </p:nvSpPr>
        <p:spPr>
          <a:xfrm>
            <a:off x="1543050" y="4368546"/>
            <a:ext cx="56235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2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business fact → one authoritative place to store it.</a:t>
            </a:r>
            <a:endParaRPr lang="en-US" sz="11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A7A7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589788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Data Pipeline &amp; ETL: Python → Validation → PostgreSQL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377190" y="953262"/>
            <a:ext cx="81610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pipeline generates reproducible test data, standardizes it, validates relationships, and loads tables in dependency order.</a:t>
            </a:r>
            <a:endParaRPr lang="en-US" sz="788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9481BC6-B245-56B6-3025-0656A808F262}"/>
              </a:ext>
            </a:extLst>
          </p:cNvPr>
          <p:cNvGrpSpPr/>
          <p:nvPr/>
        </p:nvGrpSpPr>
        <p:grpSpPr>
          <a:xfrm>
            <a:off x="377190" y="1405890"/>
            <a:ext cx="8298180" cy="2276856"/>
            <a:chOff x="377190" y="1405890"/>
            <a:chExt cx="6971261" cy="2276856"/>
          </a:xfrm>
        </p:grpSpPr>
        <p:sp>
          <p:nvSpPr>
            <p:cNvPr id="4" name="Text 2"/>
            <p:cNvSpPr/>
            <p:nvPr/>
          </p:nvSpPr>
          <p:spPr>
            <a:xfrm>
              <a:off x="377190" y="1405890"/>
              <a:ext cx="313507" cy="308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800" b="1" dirty="0">
                  <a:solidFill>
                    <a:srgbClr val="B9B9B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01</a:t>
              </a:r>
              <a:endParaRPr lang="en-US" sz="18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77190" y="1796796"/>
              <a:ext cx="1225528" cy="18859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1270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6" name="Text 4"/>
            <p:cNvSpPr/>
            <p:nvPr/>
          </p:nvSpPr>
          <p:spPr>
            <a:xfrm>
              <a:off x="479792" y="1954530"/>
              <a:ext cx="997523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000" b="1" dirty="0">
                  <a:solidFill>
                    <a:srgbClr val="2424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GENERATE</a:t>
              </a:r>
              <a:endParaRPr lang="en-US" sz="10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79792" y="2276856"/>
              <a:ext cx="34201" cy="857250"/>
            </a:xfrm>
            <a:prstGeom prst="rect">
              <a:avLst/>
            </a:prstGeom>
            <a:solidFill>
              <a:srgbClr val="242424"/>
            </a:solidFill>
            <a:ln w="12700">
              <a:solidFill>
                <a:srgbClr val="242424"/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8" name="Text 6"/>
            <p:cNvSpPr/>
            <p:nvPr/>
          </p:nvSpPr>
          <p:spPr>
            <a:xfrm>
              <a:off x="593795" y="2276856"/>
              <a:ext cx="826519" cy="857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r>
                <a:rPr lang="en-US" sz="900" dirty="0">
                  <a:solidFill>
                    <a:srgbClr val="4D4D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Synthetic but operationally realistic records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625519" y="2434590"/>
              <a:ext cx="1824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US" sz="1650" b="1" dirty="0">
                  <a:solidFill>
                    <a:srgbClr val="A8A8A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6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813623" y="1405890"/>
              <a:ext cx="313507" cy="308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800" b="1" dirty="0">
                  <a:solidFill>
                    <a:srgbClr val="B9B9B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02</a:t>
              </a:r>
              <a:endParaRPr lang="en-US" sz="18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813623" y="1796796"/>
              <a:ext cx="1225528" cy="18859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1270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12" name="Text 10"/>
            <p:cNvSpPr/>
            <p:nvPr/>
          </p:nvSpPr>
          <p:spPr>
            <a:xfrm>
              <a:off x="1916226" y="1954530"/>
              <a:ext cx="997523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000" b="1" dirty="0">
                  <a:solidFill>
                    <a:srgbClr val="2424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STAGE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916226" y="2276856"/>
              <a:ext cx="34201" cy="857250"/>
            </a:xfrm>
            <a:prstGeom prst="rect">
              <a:avLst/>
            </a:prstGeom>
            <a:solidFill>
              <a:schemeClr val="bg1">
                <a:lumMod val="25000"/>
              </a:schemeClr>
            </a:solidFill>
            <a:ln w="12700">
              <a:solidFill>
                <a:schemeClr val="bg1">
                  <a:lumMod val="25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14" name="Text 12"/>
            <p:cNvSpPr/>
            <p:nvPr/>
          </p:nvSpPr>
          <p:spPr>
            <a:xfrm>
              <a:off x="2030228" y="2276856"/>
              <a:ext cx="826519" cy="857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r>
                <a:rPr lang="en-US" sz="900" dirty="0">
                  <a:solidFill>
                    <a:srgbClr val="4D4D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Write one CSV per table for review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061952" y="2434590"/>
              <a:ext cx="1824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US" sz="1650" b="1" dirty="0">
                  <a:solidFill>
                    <a:srgbClr val="A8A8A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6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250056" y="1405890"/>
              <a:ext cx="313507" cy="308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800" b="1" dirty="0">
                  <a:solidFill>
                    <a:srgbClr val="B9B9B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03</a:t>
              </a:r>
              <a:endParaRPr lang="en-US" sz="18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50056" y="1796796"/>
              <a:ext cx="1225528" cy="18859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1270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18" name="Text 16"/>
            <p:cNvSpPr/>
            <p:nvPr/>
          </p:nvSpPr>
          <p:spPr>
            <a:xfrm>
              <a:off x="3352659" y="1954530"/>
              <a:ext cx="997523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000" b="1" dirty="0">
                  <a:solidFill>
                    <a:srgbClr val="2424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CLEAN</a:t>
              </a:r>
              <a:endParaRPr lang="en-US" sz="10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352659" y="2276856"/>
              <a:ext cx="34201" cy="85725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20" name="Text 18"/>
            <p:cNvSpPr/>
            <p:nvPr/>
          </p:nvSpPr>
          <p:spPr>
            <a:xfrm>
              <a:off x="3466661" y="2276856"/>
              <a:ext cx="826519" cy="857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r>
                <a:rPr lang="en-US" sz="900" dirty="0">
                  <a:solidFill>
                    <a:srgbClr val="4D4D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Standardize types, columns, dates, missing values</a:t>
              </a:r>
              <a:endParaRPr lang="en-US" sz="9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498385" y="2434590"/>
              <a:ext cx="1824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US" sz="1650" b="1" dirty="0">
                  <a:solidFill>
                    <a:srgbClr val="A8A8A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6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686490" y="1405890"/>
              <a:ext cx="313507" cy="308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800" b="1" dirty="0">
                  <a:solidFill>
                    <a:srgbClr val="B9B9B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04</a:t>
              </a:r>
              <a:endParaRPr lang="en-US" sz="18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686490" y="1796796"/>
              <a:ext cx="1225528" cy="18859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1270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24" name="Text 22"/>
            <p:cNvSpPr/>
            <p:nvPr/>
          </p:nvSpPr>
          <p:spPr>
            <a:xfrm>
              <a:off x="4789092" y="1954530"/>
              <a:ext cx="997523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000" b="1" dirty="0">
                  <a:solidFill>
                    <a:srgbClr val="2424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VALIDATE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789092" y="2276856"/>
              <a:ext cx="34201" cy="85725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26" name="Text 24"/>
            <p:cNvSpPr/>
            <p:nvPr/>
          </p:nvSpPr>
          <p:spPr>
            <a:xfrm>
              <a:off x="4903095" y="2276856"/>
              <a:ext cx="826519" cy="857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r>
                <a:rPr lang="en-US" sz="900" dirty="0">
                  <a:solidFill>
                    <a:srgbClr val="4D4D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Check uniqueness, references, ranges</a:t>
              </a:r>
              <a:endParaRPr lang="en-US" sz="9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934818" y="2434590"/>
              <a:ext cx="1824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US" sz="1650" b="1" dirty="0">
                  <a:solidFill>
                    <a:srgbClr val="A8A8A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→</a:t>
              </a:r>
              <a:endParaRPr lang="en-US" sz="16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6122923" y="1405890"/>
              <a:ext cx="313507" cy="308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800" b="1" dirty="0">
                  <a:solidFill>
                    <a:srgbClr val="B9B9B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05</a:t>
              </a:r>
              <a:endParaRPr lang="en-US" sz="18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6122923" y="1796796"/>
              <a:ext cx="1225528" cy="18859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1270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30" name="Text 28"/>
            <p:cNvSpPr/>
            <p:nvPr/>
          </p:nvSpPr>
          <p:spPr>
            <a:xfrm>
              <a:off x="6225525" y="1954530"/>
              <a:ext cx="997523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000" b="1" dirty="0">
                  <a:solidFill>
                    <a:srgbClr val="2424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LOAD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6225525" y="2276856"/>
              <a:ext cx="34201" cy="857250"/>
            </a:xfrm>
            <a:prstGeom prst="rect">
              <a:avLst/>
            </a:prstGeom>
            <a:solidFill>
              <a:schemeClr val="bg1">
                <a:lumMod val="90000"/>
              </a:schemeClr>
            </a:solidFill>
            <a:ln w="12700">
              <a:solidFill>
                <a:schemeClr val="bg1">
                  <a:lumMod val="9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 sz="1050"/>
            </a:p>
          </p:txBody>
        </p:sp>
        <p:sp>
          <p:nvSpPr>
            <p:cNvPr id="32" name="Text 30"/>
            <p:cNvSpPr/>
            <p:nvPr/>
          </p:nvSpPr>
          <p:spPr>
            <a:xfrm>
              <a:off x="6339528" y="2276856"/>
              <a:ext cx="826519" cy="857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r>
                <a:rPr lang="en-US" sz="900" dirty="0">
                  <a:solidFill>
                    <a:srgbClr val="4D4D4D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Bulk insert to PostgreSQL and reset sequences</a:t>
              </a:r>
              <a:endParaRPr lang="en-US" sz="900" dirty="0"/>
            </a:p>
          </p:txBody>
        </p:sp>
      </p:grpSp>
      <p:sp>
        <p:nvSpPr>
          <p:cNvPr id="33" name="Shape 31"/>
          <p:cNvSpPr/>
          <p:nvPr/>
        </p:nvSpPr>
        <p:spPr>
          <a:xfrm>
            <a:off x="377190" y="3963924"/>
            <a:ext cx="8298180" cy="569214"/>
          </a:xfrm>
          <a:prstGeom prst="roundRect">
            <a:avLst>
              <a:gd name="adj" fmla="val 7229"/>
            </a:avLst>
          </a:prstGeom>
          <a:solidFill>
            <a:srgbClr val="F7F7F7"/>
          </a:solidFill>
          <a:ln w="12700">
            <a:solidFill>
              <a:srgbClr val="D4D4D4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34" name="Text 32"/>
          <p:cNvSpPr/>
          <p:nvPr/>
        </p:nvSpPr>
        <p:spPr>
          <a:xfrm>
            <a:off x="614306" y="4182342"/>
            <a:ext cx="10629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zh-CN" sz="1000" b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725302" y="4113762"/>
            <a:ext cx="654939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5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random seed 5310 · transaction-safe load · final row-count checks · rollback on failure</a:t>
            </a:r>
            <a:endParaRPr lang="en-US" sz="10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A7A7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589788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Analytical Procedures: Customer Needs → SQL Questions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377190" y="953262"/>
            <a:ext cx="81610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database is useful because it converts management questions into repeatable, auditable analytical queries.</a:t>
            </a:r>
            <a:endParaRPr lang="en-US" sz="788" dirty="0"/>
          </a:p>
        </p:txBody>
      </p:sp>
      <p:sp>
        <p:nvSpPr>
          <p:cNvPr id="4" name="Text 2"/>
          <p:cNvSpPr/>
          <p:nvPr/>
        </p:nvSpPr>
        <p:spPr>
          <a:xfrm>
            <a:off x="466344" y="1337310"/>
            <a:ext cx="1851660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spc="75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QUESTION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06450" y="1337310"/>
            <a:ext cx="1473498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spc="75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OUTPUT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85916" y="1329863"/>
            <a:ext cx="1508760" cy="15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spc="75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PATH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" y="1940814"/>
            <a:ext cx="8195310" cy="0"/>
          </a:xfrm>
          <a:prstGeom prst="line">
            <a:avLst/>
          </a:prstGeom>
          <a:noFill/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8" name="Text 6"/>
          <p:cNvSpPr/>
          <p:nvPr/>
        </p:nvSpPr>
        <p:spPr>
          <a:xfrm>
            <a:off x="466344" y="1611630"/>
            <a:ext cx="136446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risk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84075" y="1611630"/>
            <a:ext cx="386793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products are at risk of going out of stock?</a:t>
            </a:r>
          </a:p>
        </p:txBody>
      </p:sp>
      <p:sp>
        <p:nvSpPr>
          <p:cNvPr id="10" name="Text 8"/>
          <p:cNvSpPr/>
          <p:nvPr/>
        </p:nvSpPr>
        <p:spPr>
          <a:xfrm>
            <a:off x="6185916" y="1604183"/>
            <a:ext cx="2286118" cy="2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store_inventory + products + stores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" y="2379726"/>
            <a:ext cx="8195310" cy="0"/>
          </a:xfrm>
          <a:prstGeom prst="line">
            <a:avLst/>
          </a:prstGeom>
          <a:noFill/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12" name="Text 10"/>
          <p:cNvSpPr/>
          <p:nvPr/>
        </p:nvSpPr>
        <p:spPr>
          <a:xfrm>
            <a:off x="466344" y="2050542"/>
            <a:ext cx="136446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Overstock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84075" y="2050542"/>
            <a:ext cx="386793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items have high inventory but weak sales?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85916" y="2043095"/>
            <a:ext cx="2286118" cy="2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store_inventory + sales_items + sales_transactions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" y="2818638"/>
            <a:ext cx="8195310" cy="0"/>
          </a:xfrm>
          <a:prstGeom prst="line">
            <a:avLst/>
          </a:prstGeom>
          <a:noFill/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16" name="Text 14"/>
          <p:cNvSpPr/>
          <p:nvPr/>
        </p:nvSpPr>
        <p:spPr>
          <a:xfrm>
            <a:off x="466344" y="2489454"/>
            <a:ext cx="136446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performance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84075" y="2489454"/>
            <a:ext cx="386793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products/categories sell best by store?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85916" y="2482007"/>
            <a:ext cx="2286118" cy="2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sales_transactions + sales_items + products + product_categories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" y="3257550"/>
            <a:ext cx="8195310" cy="0"/>
          </a:xfrm>
          <a:prstGeom prst="line">
            <a:avLst/>
          </a:prstGeom>
          <a:noFill/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20" name="Text 18"/>
          <p:cNvSpPr/>
          <p:nvPr/>
        </p:nvSpPr>
        <p:spPr>
          <a:xfrm>
            <a:off x="466344" y="2928366"/>
            <a:ext cx="136446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zh-CN" sz="10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</a:t>
            </a:r>
            <a:r>
              <a:rPr lang="zh-CN" altLang="en-US" sz="1000" b="1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0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84075" y="2928366"/>
            <a:ext cx="386793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products and product categories have a high return rate?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85916" y="2920919"/>
            <a:ext cx="2286118" cy="2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customer_returns + sales_items + products + product_categories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" y="3696462"/>
            <a:ext cx="8195310" cy="0"/>
          </a:xfrm>
          <a:prstGeom prst="line">
            <a:avLst/>
          </a:prstGeom>
          <a:noFill/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24" name="Text 22"/>
          <p:cNvSpPr/>
          <p:nvPr/>
        </p:nvSpPr>
        <p:spPr>
          <a:xfrm>
            <a:off x="466344" y="3367278"/>
            <a:ext cx="136446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profitability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84075" y="3367278"/>
            <a:ext cx="386793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stores underperform after operating costs?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85916" y="3359831"/>
            <a:ext cx="2286118" cy="2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sales_transactions + operating_expenses + staff_shifts + employees + stores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" y="4135374"/>
            <a:ext cx="8195310" cy="0"/>
          </a:xfrm>
          <a:prstGeom prst="line">
            <a:avLst/>
          </a:prstGeom>
          <a:noFill/>
          <a:ln w="1016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28" name="Text 26"/>
          <p:cNvSpPr/>
          <p:nvPr/>
        </p:nvSpPr>
        <p:spPr>
          <a:xfrm>
            <a:off x="466344" y="3806190"/>
            <a:ext cx="136446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84075" y="3806190"/>
            <a:ext cx="386793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dirty="0">
                <a:solidFill>
                  <a:srgbClr val="242424"/>
                </a:solidFill>
                <a:latin typeface="Aptos" pitchFamily="34" charset="0"/>
              </a:rPr>
              <a:t>Which stores have frequent lateness, absences, or staffing gaps?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85916" y="3798743"/>
            <a:ext cx="2286118" cy="2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staff_shifts + employees + time_off_requests</a:t>
            </a:r>
            <a:r>
              <a:rPr lang="zh-CN" altLang="en-US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r>
              <a:rPr lang="zh-CN" altLang="en-US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0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" y="4361688"/>
            <a:ext cx="3895344" cy="37719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32" name="Text 30"/>
          <p:cNvSpPr/>
          <p:nvPr/>
        </p:nvSpPr>
        <p:spPr>
          <a:xfrm>
            <a:off x="617220" y="4479123"/>
            <a:ext cx="9944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ANALYST ACCESS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39911" y="4460269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SQL · Python/R connector · detailed drill-down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12564" y="4361688"/>
            <a:ext cx="4149090" cy="37719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CN" altLang="en-US" sz="1050"/>
          </a:p>
        </p:txBody>
      </p:sp>
      <p:sp>
        <p:nvSpPr>
          <p:cNvPr id="35" name="Text 33"/>
          <p:cNvSpPr/>
          <p:nvPr/>
        </p:nvSpPr>
        <p:spPr>
          <a:xfrm>
            <a:off x="4663440" y="4479123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ACCESS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95010" y="4437975"/>
            <a:ext cx="25717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Metabase dashboards · filters · KPI overview</a:t>
            </a:r>
            <a:endParaRPr lang="en-US" sz="9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A7A7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589788"/>
            <a:ext cx="829818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zh-CN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r>
              <a:rPr lang="en-US" sz="187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Metabase Demo: Management View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377190" y="953262"/>
            <a:ext cx="816102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88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/>
              </a:rPr>
              <a:t>http://82.157.4.243:3000</a:t>
            </a:r>
            <a:r>
              <a:rPr lang="zh-CN" altLang="en-US" sz="788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788" dirty="0"/>
          </a:p>
        </p:txBody>
      </p:sp>
      <p:sp>
        <p:nvSpPr>
          <p:cNvPr id="42" name="Text 40"/>
          <p:cNvSpPr/>
          <p:nvPr/>
        </p:nvSpPr>
        <p:spPr>
          <a:xfrm>
            <a:off x="445770" y="4423410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698" b="1" spc="75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FLOW</a:t>
            </a:r>
            <a:endParaRPr lang="en-US" sz="698" dirty="0"/>
          </a:p>
        </p:txBody>
      </p:sp>
      <p:sp>
        <p:nvSpPr>
          <p:cNvPr id="43" name="Text 41"/>
          <p:cNvSpPr/>
          <p:nvPr/>
        </p:nvSpPr>
        <p:spPr>
          <a:xfrm>
            <a:off x="1200150" y="4361688"/>
            <a:ext cx="67208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25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store → inspect low-stock items → drill into product/vendor details → return to executive KPIs</a:t>
            </a:r>
            <a:endParaRPr lang="en-US" sz="825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60196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A7A7A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10</a:t>
            </a:fld>
            <a:endParaRPr lang="en-US" dirty="0"/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F649588F-CFD2-FA36-88AE-1AFC2ADEA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64" y="1364021"/>
            <a:ext cx="4718512" cy="2783872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33BAE8A1-F241-9100-E562-BC4596A452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382" y="1364021"/>
            <a:ext cx="3479840" cy="27838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asic Customizable Consulting Toolkit by Slidesgo">
  <a:themeElements>
    <a:clrScheme name="Simple Light">
      <a:dk1>
        <a:srgbClr val="242424"/>
      </a:dk1>
      <a:lt1>
        <a:srgbClr val="EFEFEF"/>
      </a:lt1>
      <a:dk2>
        <a:srgbClr val="B7B7B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4242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1452</Words>
  <Application>Microsoft Macintosh PowerPoint</Application>
  <PresentationFormat>全屏显示(16:9)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</vt:lpstr>
      <vt:lpstr>Lexend Deca</vt:lpstr>
      <vt:lpstr>Aptos</vt:lpstr>
      <vt:lpstr>Hind Madurai</vt:lpstr>
      <vt:lpstr>Courier New</vt:lpstr>
      <vt:lpstr>Basic Customizable Consulting Toolkit by Slidesgo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熙琳 王</cp:lastModifiedBy>
  <cp:revision>9</cp:revision>
  <dcterms:modified xsi:type="dcterms:W3CDTF">2026-08-14T05:52:57Z</dcterms:modified>
</cp:coreProperties>
</file>